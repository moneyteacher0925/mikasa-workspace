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0" b="1">
                <a:solidFill>
                  <a:srgbClr val="FFB900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Jalnan"/>
              </a:defRPr>
            </a:pPr>
            <a:r>
              <a:t>소자본으로 월급 이상</a:t>
            </a:r>
            <a:br/>
            <a:r>
              <a:t>재고리스크 없는 스마트스토어 판매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87878"/>
                </a:solidFill>
                <a:latin typeface="Jalnan"/>
              </a:defRPr>
            </a:pPr>
            <a:r>
              <a:t>강사: 에렌 (권현우)  |  진격의 마케팅 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1E1E"/>
                </a:solidFill>
                <a:latin typeface="Jalnan"/>
              </a:defRPr>
            </a:pPr>
            <a:r>
              <a:t>WEEK 4  |  팔리게 만드는 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B900"/>
                </a:solidFill>
                <a:latin typeface="Jalnan"/>
              </a:defRPr>
            </a:pPr>
            <a:r>
              <a:t>WEEK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Jalnan"/>
              </a:defRPr>
            </a:pPr>
            <a:r>
              <a:t>팔리게 만드는 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남들보다 효율적으로!</a:t>
            </a:r>
            <a:br/>
            <a:r>
              <a:t>시간사용법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24시간은 같다</a:t>
            </a:r>
            <a:br/>
            <a:r>
              <a:t>결과는 다르다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누구는 매출, 누구는 스토어도 미개설</a:t>
            </a:r>
            <a:br/>
            <a:r>
              <a:t>목표지향적 하루가 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모든 일은</a:t>
            </a:r>
            <a:br/>
            <a:r>
              <a:t>목표지향적으로!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친구는 당분간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방해금지 모드</a:t>
            </a:r>
            <a:br/>
            <a:r>
              <a:t>전화 무시</a:t>
            </a:r>
            <a:br/>
            <a:r>
              <a:t>가족 밥 OK, 친구 술 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술 먹으면서</a:t>
            </a:r>
            <a:br/>
            <a:r>
              <a:t>월천 벌겠다?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모순이에요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3주차 미션 피드백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상세페이지 + 바이럴</a:t>
            </a:r>
            <a:br/>
            <a:r>
              <a:t>즉석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잘한 사례 공유</a:t>
            </a:r>
            <a:br/>
            <a:r>
              <a:t>삭제당한 글 원인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셀러들 궁금증</a:t>
            </a:r>
            <a:br/>
            <a:r>
              <a:t>Q&amp;A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경쟁사 신고?</a:t>
            </a:r>
            <a:br/>
            <a:r>
              <a:t>→ 오히려 좋아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위협됐다는 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안 팔리면?</a:t>
            </a:r>
            <a:br/>
            <a:r>
              <a:t>→ 다음 상품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재고 없잖아</a:t>
            </a:r>
            <a:br/>
            <a:r>
              <a:t>걱정 먼저 해도 안 나아짐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수강생 성과 공유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"이게 되는구나"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매출 나온 수강생 발표</a:t>
            </a:r>
            <a:br/>
            <a:r>
              <a:t>아직 안 나온 사람 즉석 진단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필요로 하지 않는</a:t>
            </a:r>
            <a:br/>
            <a:r>
              <a:t>소비자에게 판매하는 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있어도 되고</a:t>
            </a:r>
            <a:br/>
            <a:r>
              <a:t>없어도 되는 상품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욕구 없는 타겟에게</a:t>
            </a:r>
            <a:br/>
            <a:r>
              <a:t>필요성 느끼게 만들기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B900"/>
                </a:solidFill>
                <a:latin typeface="Jalnan"/>
              </a:defRPr>
            </a:pPr>
            <a:r>
              <a:t>이게 진짜 고수</a:t>
            </a:r>
            <a:br/>
            <a:r>
              <a:t>안 사려는 사람한테</a:t>
            </a:r>
            <a:br/>
            <a:r>
              <a:t>파는 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제로의 심리</a:t>
            </a:r>
            <a:br/>
            <a:r>
              <a:t>5가지 실전 워크숍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1E1E"/>
                </a:solidFill>
                <a:latin typeface="Jalnan"/>
              </a:rPr>
              <a:t>제로의 심리 </a:t>
            </a:r>
            <a:r>
              <a:rPr sz="4500" b="1">
                <a:solidFill>
                  <a:srgbClr val="FFFFFF"/>
                </a:solidFill>
                <a:latin typeface="Jalnan"/>
              </a:rPr>
              <a:t>5가지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수강생 상품에</a:t>
            </a:r>
            <a:br/>
            <a:r>
              <a:t>직접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당위성 — 사야 하는 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결핍성 — 지금 안 사면 없어요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기발성 — 이런 건 처음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시급성 — 지금 당장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754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⑤ 비교성 — 이게 더 낫죠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그들이 원하는 걸 주고</a:t>
            </a:r>
            <a:br/>
            <a:r>
              <a:t>돈벌기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라면 에피소드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내가 원한 건 라면</a:t>
            </a:r>
            <a:br/>
            <a:r>
              <a:t>엄마가 원한 건 건강한 아들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소비자 욕구</a:t>
            </a:r>
            <a:br/>
            <a:r>
              <a:t>≠ 올바른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그래도 그들이 원하는 걸 줘야</a:t>
            </a:r>
            <a:br/>
            <a:r>
              <a:t>돈이 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나한테 중요한 건</a:t>
            </a:r>
            <a:br/>
            <a:r>
              <a:t>중요한 게 아니야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B900"/>
                </a:solidFill>
                <a:latin typeface="Jalnan"/>
              </a:defRPr>
            </a:pPr>
            <a:r>
              <a:t>제육볶음 좋아하는 나</a:t>
            </a:r>
            <a:br/>
            <a:r>
              <a:t>vs</a:t>
            </a:r>
            <a:br/>
            <a:r>
              <a:t>떡볶이 좋아하는 타겟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여대 앞 음식점</a:t>
            </a:r>
            <a:br/>
            <a:r>
              <a:t>= 마라탕 / 떡볶이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내 취향이 아니라</a:t>
            </a:r>
            <a:br/>
            <a:r>
              <a:t>타겟의 취향으로 팔아라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네이버 쇼핑</a:t>
            </a:r>
            <a:br/>
            <a:r>
              <a:t>검색광고 기초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B900"/>
                </a:solidFill>
                <a:latin typeface="Jalnan"/>
              </a:rPr>
              <a:t>검색광고 </a:t>
            </a:r>
            <a:r>
              <a:rPr sz="4500" b="1">
                <a:solidFill>
                  <a:srgbClr val="FFFFFF"/>
                </a:solidFill>
                <a:latin typeface="Jalnan"/>
              </a:rPr>
              <a:t>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하루</a:t>
            </a:r>
            <a:br/>
            <a:r>
              <a:t>5,000원부터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계정 세팅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쇼핑검색 광고 만들기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입찰가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예산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754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⑤ ROAS 개념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FFB900"/>
                </a:solidFill>
                <a:latin typeface="Jalnan"/>
              </a:defRPr>
            </a:pPr>
            <a:r>
              <a:t>광고 없이도 팔 수 있지만</a:t>
            </a:r>
            <a:br/>
            <a:r>
              <a:t>걸면 속도가 붙는다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주문처리 + CS 대응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1E1E"/>
                </a:solidFill>
                <a:latin typeface="Jalnan"/>
              </a:rPr>
              <a:t>첫 주문 </a:t>
            </a:r>
            <a:r>
              <a:rPr sz="4500" b="1">
                <a:solidFill>
                  <a:srgbClr val="FFFFFF"/>
                </a:solidFill>
                <a:latin typeface="Jalnan"/>
              </a:rPr>
              <a:t>당황하지 마세요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이대로</a:t>
            </a:r>
            <a:br/>
            <a:r>
              <a:t>하면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위탁 주문 → 도매처 발주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CS 템플릿 (배송·교환·환불)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리뷰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톡톡 활용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스케일업 로드맵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B900"/>
                </a:solidFill>
                <a:latin typeface="Jalnan"/>
              </a:rPr>
              <a:t>상품 수 </a:t>
            </a:r>
            <a:r>
              <a:rPr sz="4500" b="1">
                <a:solidFill>
                  <a:srgbClr val="FFFFFF"/>
                </a:solidFill>
                <a:latin typeface="Jalnan"/>
              </a:rPr>
              <a:t>= 매출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1E1E"/>
                </a:solidFill>
                <a:latin typeface="Jalnan"/>
              </a:defRPr>
            </a:pPr>
            <a:r>
              <a:t>1개면 1개</a:t>
            </a:r>
            <a:br/>
            <a:r>
              <a:t>100개면 100배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상품 10개 → 50개 → 100개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잘 팔리는 패턴 복제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쿠팡 추가 진출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외주화·시스템화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Value Ladder</a:t>
            </a:r>
            <a:br/>
            <a:r>
              <a:t>고객 1명에게 여러 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B900"/>
                </a:solidFill>
                <a:latin typeface="Jalnan"/>
              </a:defRPr>
            </a:pPr>
            <a:r>
              <a:t>Value Ladder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572000"/>
            <a:ext cx="2743200" cy="73152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Jalnan"/>
              </a:defRPr>
            </a:pPr>
            <a:r>
              <a:t>무료 샘플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657600"/>
            <a:ext cx="2743200" cy="731520"/>
          </a:xfrm>
          <a:prstGeom prst="roundRect">
            <a:avLst/>
          </a:prstGeom>
          <a:noFill/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B900"/>
                </a:solidFill>
                <a:latin typeface="Jalnan"/>
              </a:defRPr>
            </a:pPr>
            <a:r>
              <a:t>소용량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743200"/>
            <a:ext cx="2743200" cy="731520"/>
          </a:xfrm>
          <a:prstGeom prst="roundRect">
            <a:avLst/>
          </a:prstGeom>
          <a:noFill/>
          <a:ln w="25400">
            <a:solidFill>
              <a:srgbClr val="FF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1E1E"/>
                </a:solidFill>
                <a:latin typeface="Jalnan"/>
              </a:defRPr>
            </a:pPr>
            <a:r>
              <a:t>대용량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2743200" cy="731520"/>
          </a:xfrm>
          <a:prstGeom prst="roundRect">
            <a:avLst/>
          </a:prstGeom>
          <a:noFill/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B900"/>
                </a:solidFill>
                <a:latin typeface="Jalnan"/>
              </a:defRPr>
            </a:pPr>
            <a:r>
              <a:t>정기배송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87878"/>
                </a:solidFill>
                <a:latin typeface="Jalnan"/>
              </a:defRPr>
            </a:pPr>
            <a:r>
              <a:t>고객 확보비용 같은데 객단가 올리기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B900"/>
                </a:solidFill>
                <a:latin typeface="Jalnan"/>
              </a:defRPr>
            </a:pPr>
            <a:r>
              <a:t>4주간의 성과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Jalnan"/>
              </a:defRPr>
            </a:pPr>
            <a:r>
              <a:t>첫 매출까지 무한 피드백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7878"/>
                </a:solidFill>
                <a:latin typeface="Jalnan"/>
              </a:defRPr>
            </a:pPr>
            <a:r>
              <a:t>"4주 전의 여러분과</a:t>
            </a:r>
            <a:br/>
            <a:r>
              <a:t>지금의 여러분은 다른 사람입니다"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1E1E"/>
                </a:solidFill>
                <a:latin typeface="Jalnan"/>
              </a:defRPr>
            </a:pPr>
            <a:r>
              <a:t>📋 최종 미션 — 여기서 끝이 아닙니다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1.  첫 매출 인증 (무기한 — 나올 때까지 같이 갑니다)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71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2.  상품 5개 이상 등록 (2주 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3.  월 목표 매출 + 실행 계획서 제출 (D+3)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0" b="1">
                <a:solidFill>
                  <a:srgbClr val="FFB900"/>
                </a:solidFill>
                <a:latin typeface="Jalnan"/>
              </a:defRPr>
            </a:pPr>
            <a: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Jalnan"/>
              </a:defRPr>
            </a:pPr>
            <a:r>
              <a:t>진격의 클래스  |  에렌 (권현우)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1E1E"/>
                </a:solidFill>
                <a:latin typeface="Jalnan"/>
              </a:defRPr>
            </a:pPr>
            <a:r>
              <a:t>attackclass.liveklass.com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