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B900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1E1E"/>
                </a:solidFill>
                <a:latin typeface="Jalnan"/>
              </a:defRPr>
            </a:pPr>
            <a:r>
              <a:t>무료 세미나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Jalnan"/>
              </a:defRPr>
            </a:pPr>
            <a:r>
              <a:t>소자본으로 시작하는</a:t>
            </a:r>
            <a:br/>
            <a:r>
              <a:t>스마트스토어 위탁판매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87878"/>
                </a:solidFill>
                <a:latin typeface="Jalnan"/>
              </a:defRPr>
            </a:pPr>
            <a:r>
              <a:t>강사: 에렌 (권현우)  |  진격의 마케팅 대표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1E1E"/>
                </a:solidFill>
                <a:latin typeface="Jalnan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B900"/>
                </a:solidFill>
                <a:latin typeface="Jalnan"/>
              </a:defRPr>
            </a:pPr>
            <a:r>
              <a:t>제가 어떻게</a:t>
            </a:r>
            <a:br/>
            <a:r>
              <a:t>여기까지 왔는지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C3C3C"/>
                </a:solidFill>
                <a:latin typeface="Jalnan"/>
              </a:defRPr>
            </a:pPr>
            <a:r>
              <a:t>0~15분  |  신뢰 + 감정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혹시 유튜브 보고</a:t>
            </a:r>
            <a:br/>
            <a:r>
              <a:t>오신 분 손!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어떻게 오늘 여기 오게 됐는지 궁금해서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23살까지 야구한</a:t>
            </a:r>
            <a:br/>
            <a:r>
              <a:t>청년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한참 중요한 순간</a:t>
            </a:r>
            <a:br/>
            <a:r>
              <a:t>부상으로 인한 은퇴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부모님 지원으로</a:t>
            </a:r>
            <a:br/>
            <a:r>
              <a:t>23살까지 야구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이제는 집안에</a:t>
            </a:r>
            <a:br/>
            <a:r>
              <a:t>보탬이 돼야 할 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뭐라도 해야겠다..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족발집 알바, 택배 상하차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아 이런 걸로는</a:t>
            </a:r>
            <a:br/>
            <a:r>
              <a:t>부자 못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창업하자</a:t>
            </a:r>
            <a:br/>
            <a:r>
              <a:t>그릭요거트 vs 온라인 판매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B900"/>
                </a:solidFill>
                <a:latin typeface="Jalnan"/>
              </a:defRPr>
            </a:pPr>
            <a:r>
              <a:t>창업비용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4114800" cy="1371600"/>
          </a:xfrm>
          <a:prstGeom prst="roundRect">
            <a:avLst/>
          </a:prstGeom>
          <a:noFill/>
          <a:ln w="25400">
            <a:solidFill>
              <a:srgbClr val="FF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1E1E"/>
                </a:solidFill>
                <a:latin typeface="Jalnan"/>
              </a:defRPr>
            </a:pPr>
            <a:r>
              <a:t>그릭요거트 창업</a:t>
            </a:r>
            <a:br/>
            <a:r>
              <a:t>3,000만원 이상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560320"/>
            <a:ext cx="4114800" cy="1371600"/>
          </a:xfrm>
          <a:prstGeom prst="roundRect">
            <a:avLst/>
          </a:prstGeom>
          <a:noFill/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B900"/>
                </a:solidFill>
                <a:latin typeface="Jalnan"/>
              </a:defRPr>
            </a:pPr>
            <a:r>
              <a:t>온라인 판매</a:t>
            </a:r>
            <a:br/>
            <a:r>
              <a:t>5만원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87878"/>
                </a:solidFill>
                <a:latin typeface="Jalnan"/>
              </a:defRPr>
            </a:pPr>
            <a:r>
              <a:t>보증금, 인테리어, 재료비...</a:t>
            </a:r>
            <a:br/>
            <a:r>
              <a:t>vs 통신판매업 신고 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'위탁판매' 를</a:t>
            </a:r>
            <a:br/>
            <a:r>
              <a:t>알게 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재고도 없어도 되고</a:t>
            </a:r>
            <a:br/>
            <a:r>
              <a:t>돈도 먼저 안 써도 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먼저 팔고 나서</a:t>
            </a:r>
            <a:br/>
            <a:r>
              <a:t>공급자한테 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이거 개꿀 아닌가...?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나한테 주어진 건</a:t>
            </a:r>
            <a:br/>
            <a:r>
              <a:t>오직 '시간' 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노동력이 전부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누구에게나 공평한 시간</a:t>
            </a:r>
            <a:br/>
            <a:r>
              <a:t>그러나 버는 돈은 각자 다름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FFFF"/>
                </a:solidFill>
                <a:latin typeface="Jalnan"/>
              </a:defRPr>
            </a:pPr>
            <a:r>
              <a:t>솔직히</a:t>
            </a:r>
            <a:br/>
            <a:r>
              <a:t>돈 벌 수 있는 건 많습니다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1E1E"/>
                </a:solidFill>
                <a:latin typeface="Jalnan"/>
              </a:defRPr>
            </a:pPr>
            <a:r>
              <a:t>하지만 무언가를 팔지 않고</a:t>
            </a:r>
            <a:br/>
            <a:r>
              <a:t>부자가 된 사람은 없습니다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부자라고 할 수는 없지만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판매로 인해 삶이</a:t>
            </a:r>
            <a:br/>
            <a:r>
              <a:t>꽤 안정권으로 들어왔다고 생각합니다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처음부터</a:t>
            </a:r>
            <a:br/>
            <a:r>
              <a:t>잘하지는 않았습니다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비닐하우스에서</a:t>
            </a:r>
            <a:br/>
            <a:r>
              <a:t>컴퓨터 한 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집에서 하다가 집중이 안 돼서</a:t>
            </a:r>
            <a:br/>
            <a:r>
              <a:t>사무실 얻음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창고가 커져 확장</a:t>
            </a:r>
            <a:br/>
            <a:r>
              <a:t>어느덧 연매출 23억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B900"/>
                </a:solidFill>
                <a:latin typeface="Jalnan"/>
              </a:defRPr>
            </a:pPr>
            <a:r>
              <a:t>수도권 아파트 자가</a:t>
            </a:r>
            <a:br/>
            <a:r>
              <a:t>벤츠 구매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자랑할 정도는 아니지만</a:t>
            </a:r>
            <a:br/>
            <a:r>
              <a:t>없던 시절을 생각하니 너무 행복...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이 과정까지</a:t>
            </a:r>
            <a:br/>
            <a:r>
              <a:t>쉬웠냐고요?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주말도 거의 안 쉬고 일했습니다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내 성향은 진취적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키 크는 거 말고는</a:t>
            </a:r>
            <a:br/>
            <a:r>
              <a:t>안 되는 거 없다고 생각함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내 첫 시작은</a:t>
            </a:r>
            <a:br/>
            <a:r>
              <a:t>'위탁판매'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도매꾹, 도매매, 카페 등</a:t>
            </a:r>
            <a:br/>
            <a:r>
              <a:t>소싱처 찾음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잘 팔리니 '사입'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그리고 '브랜딩'</a:t>
            </a:r>
            <a:br/>
            <a:r>
              <a:t>OEM 수입 및 제조까지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B900"/>
                </a:solidFill>
                <a:latin typeface="Jalnan"/>
              </a:defRPr>
            </a:pPr>
            <a:r>
              <a:t>가장 안전한 루트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2743200" cy="1097280"/>
          </a:xfrm>
          <a:prstGeom prst="roundRect">
            <a:avLst/>
          </a:prstGeom>
          <a:noFill/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B900"/>
                </a:solidFill>
                <a:latin typeface="Jalnan"/>
              </a:defRPr>
            </a:pPr>
            <a:r>
              <a:t>위탁판매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97680" y="2880360"/>
            <a:ext cx="73152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2560320"/>
            <a:ext cx="2743200" cy="109728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Jalnan"/>
              </a:defRPr>
            </a:pPr>
            <a:r>
              <a:t>사입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229600" y="2880360"/>
            <a:ext cx="73152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0" y="2560320"/>
            <a:ext cx="2743200" cy="1097280"/>
          </a:xfrm>
          <a:prstGeom prst="roundRect">
            <a:avLst/>
          </a:prstGeom>
          <a:noFill/>
          <a:ln w="25400">
            <a:solidFill>
              <a:srgbClr val="FF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1E1E"/>
                </a:solidFill>
                <a:latin typeface="Jalnan"/>
              </a:defRPr>
            </a:pPr>
            <a:r>
              <a:t>브랜딩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이 루트로 오는 것이 가장 안전합니다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자신 있다면</a:t>
            </a:r>
            <a:br/>
            <a:r>
              <a:t>처음부터 사입해도 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하지만 최소한의 MVP를</a:t>
            </a:r>
            <a:br/>
            <a:r>
              <a:t>만들고 나서 시작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B900"/>
                </a:solidFill>
                <a:latin typeface="Jalnan"/>
              </a:defRPr>
            </a:pPr>
            <a:r>
              <a:t>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Jalnan"/>
              </a:defRPr>
            </a:pPr>
            <a:r>
              <a:t>Minimum Viable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87878"/>
                </a:solidFill>
                <a:latin typeface="Jalnan"/>
              </a:defRPr>
            </a:pPr>
            <a:r>
              <a:t>쉬운 말로</a:t>
            </a:r>
            <a:br/>
            <a:r>
              <a:t>돌다리는 두들겨보고 건너라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1E1E"/>
                </a:solidFill>
                <a:latin typeface="Jalnan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B900"/>
                </a:solidFill>
                <a:latin typeface="Jalnan"/>
              </a:defRPr>
            </a:pPr>
            <a:r>
              <a:t>제가 실제로 어떻게 팔았는지</a:t>
            </a:r>
            <a:br/>
            <a:r>
              <a:t>핵심만 3가지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C3C3C"/>
                </a:solidFill>
                <a:latin typeface="Jalnan"/>
              </a:defRPr>
            </a:pPr>
            <a:r>
              <a:t>30~50분  |  실질 가치 제공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1E1E"/>
                </a:solidFill>
                <a:latin typeface="Jalnan"/>
              </a:defRPr>
            </a:pPr>
            <a:r>
              <a:t>첫 번째</a:t>
            </a:r>
            <a:br/>
            <a:r>
              <a:t>판매 6하원칙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대부분</a:t>
            </a:r>
            <a:br/>
            <a:r>
              <a:t>'뭘 팔지'만 고민함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'누구한테'가 먼저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같은 다이어트약인데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게으른 사람 vs 결혼식 앞둔 사람</a:t>
            </a:r>
            <a:br/>
            <a:r>
              <a:t>→ 완전히 다른 상품이 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B900"/>
                </a:solidFill>
                <a:latin typeface="Jalnan"/>
              </a:defRPr>
            </a:pPr>
            <a:r>
              <a:t>타겟이 정해지면</a:t>
            </a:r>
            <a:br/>
            <a:r>
              <a:t>나머지 5개는</a:t>
            </a:r>
            <a:br/>
            <a:r>
              <a:t>자동으로 따라옴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1E1E"/>
                </a:solidFill>
                <a:latin typeface="Jalnan"/>
              </a:defRPr>
            </a:pPr>
            <a:r>
              <a:t>두 번째</a:t>
            </a:r>
            <a:br/>
            <a:r>
              <a:t>소비자 간파하기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1E1E"/>
                </a:solidFill>
                <a:latin typeface="Jalnan"/>
              </a:defRPr>
            </a:pPr>
            <a:r>
              <a:t>"이게 중요해!"</a:t>
            </a:r>
            <a:br/>
            <a:r>
              <a:t>≠ 실제 구매 이유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흙 사는 사람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"유기농이라서" 라고 말하지만</a:t>
            </a:r>
            <a:br/>
            <a:r>
              <a:t>실제론 "우리 집 화분 안 죽이고 싶어서"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B900"/>
                </a:solidFill>
                <a:latin typeface="Jalnan"/>
              </a:defRPr>
            </a:pPr>
            <a:r>
              <a:t>겉으로 말하는 이유 말고</a:t>
            </a:r>
            <a:br/>
            <a:r>
              <a:t>진짜 욕구를 찾아야</a:t>
            </a:r>
            <a:br/>
            <a:r>
              <a:t>돈이 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1E1E"/>
                </a:solidFill>
                <a:latin typeface="Jalnan"/>
              </a:defRPr>
            </a:pPr>
            <a:r>
              <a:t>세 번째</a:t>
            </a:r>
            <a:br/>
            <a:r>
              <a:t>나만 아는 키워드 만들기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네이버에서</a:t>
            </a:r>
            <a:br/>
            <a:r>
              <a:t>'무농약 상토' 검색하면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제 상품만 나옵니다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브랜드명이 아닌데</a:t>
            </a:r>
            <a:br/>
            <a:r>
              <a:t>나만 나오는 키워드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바이럴에 심으면</a:t>
            </a:r>
            <a:br/>
            <a:r>
              <a:t>광고비 0원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이 3가지만 알아도</a:t>
            </a:r>
            <a:br/>
            <a:r>
              <a:t>첫 달 매출은 나옵니다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근데 솔직히</a:t>
            </a:r>
            <a:br/>
            <a:r>
              <a:t>이걸 듣고 바로 할 수 있는 사람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거의 없어요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혼자 하면</a:t>
            </a:r>
            <a:br/>
            <a:r>
              <a:t>방향을 모르니까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옆에서 봐주는 사람이 필요합니다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1E1E"/>
                </a:solidFill>
                <a:latin typeface="Jalnan"/>
              </a:defRPr>
            </a:pPr>
            <a: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수강생 성과 사례</a:t>
            </a:r>
            <a:br/>
            <a:r>
              <a:t>+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C3C3C"/>
                </a:solidFill>
                <a:latin typeface="Jalnan"/>
              </a:defRPr>
            </a:pPr>
            <a:r>
              <a:t>50~65분  |  사회적 증거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제 수강생 중</a:t>
            </a:r>
            <a:br/>
            <a:r>
              <a:t>이런 분들이 있었습니다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B900"/>
                </a:solidFill>
                <a:latin typeface="Jalnan"/>
              </a:defRPr>
            </a:pPr>
            <a:r>
              <a:t>실제 수강생 성과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64592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Jalnan"/>
              </a:defRPr>
            </a:pPr>
            <a:r>
              <a:t>수강생 A</a:t>
            </a:r>
            <a:br/>
            <a:r>
              <a:t>직장인 + 주말만</a:t>
            </a:r>
            <a:br/>
            <a:r>
              <a:t>→ 월 150만원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1645920"/>
          </a:xfrm>
          <a:prstGeom prst="roundRect">
            <a:avLst/>
          </a:prstGeom>
          <a:noFill/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B900"/>
                </a:solidFill>
                <a:latin typeface="Jalnan"/>
              </a:defRPr>
            </a:pPr>
            <a:r>
              <a:t>수강생 B</a:t>
            </a:r>
            <a:br/>
            <a:r>
              <a:t>전업주부</a:t>
            </a:r>
            <a:br/>
            <a:r>
              <a:t>3주 만에 첫 매출</a:t>
            </a:r>
            <a:br/>
            <a:r>
              <a:t>→ 월 300만원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1645920"/>
          </a:xfrm>
          <a:prstGeom prst="roundRect">
            <a:avLst/>
          </a:prstGeom>
          <a:noFill/>
          <a:ln w="25400">
            <a:solidFill>
              <a:srgbClr val="FF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1E1E"/>
                </a:solidFill>
                <a:latin typeface="Jalnan"/>
              </a:defRPr>
            </a:pPr>
            <a:r>
              <a:t>수강생 C</a:t>
            </a:r>
            <a:br/>
            <a:r>
              <a:t>완전 초보</a:t>
            </a:r>
            <a:br/>
            <a:r>
              <a:t>컴퓨터도 잘 모름</a:t>
            </a:r>
            <a:br/>
            <a:r>
              <a:t>→ 그래도 됐습니다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Jalnan"/>
              </a:defRPr>
            </a:pPr>
            <a:r>
              <a:t>공통점? 방법을 몰랐을 뿐</a:t>
            </a:r>
            <a:br/>
            <a:r>
              <a:t>알려주니까 됐어요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Q&amp;A 타임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궁금한 거 뭐든 물어보세요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B900"/>
                </a:solidFill>
                <a:latin typeface="Jalnan"/>
              </a:defRPr>
            </a:pPr>
            <a:r>
              <a:t>자주 묻는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1E1E"/>
                </a:solidFill>
                <a:latin typeface="Jalnan"/>
              </a:defRPr>
            </a:pPr>
            <a:r>
              <a:t>"진짜 재고 없이 돼요?"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Jalnan"/>
              </a:defRPr>
            </a:pPr>
            <a:r>
              <a:t>→ 네, 위탁은 주문 들어온 후 발주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1E1E"/>
                </a:solidFill>
                <a:latin typeface="Jalnan"/>
              </a:defRPr>
            </a:pPr>
            <a:r>
              <a:t>"얼마나 걸려요?"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788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Jalnan"/>
              </a:defRPr>
            </a:pPr>
            <a:r>
              <a:t>→ 빠르면 1주, 보통 2~4주 안에 첫 매출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1E1E"/>
                </a:solidFill>
                <a:latin typeface="Jalnan"/>
              </a:defRPr>
            </a:pPr>
            <a:r>
              <a:t>"직장 다니면서 가능해요?"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7490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Jalnan"/>
              </a:defRPr>
            </a:pPr>
            <a:r>
              <a:t>→ 하루 2시간이면 충분합니다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1E1E"/>
                </a:solidFill>
                <a:latin typeface="Jalnan"/>
              </a:defRPr>
            </a:pPr>
            <a:r>
              <a:t>"경쟁 너무 심하지 않아요?"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7091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Jalnan"/>
              </a:defRPr>
            </a:pPr>
            <a:r>
              <a:t>→ 레드오션이 아니라 방법을 모르는 거예요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1E1E"/>
                </a:solidFill>
                <a:latin typeface="Jalnan"/>
              </a:defRPr>
            </a:pPr>
            <a: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진격의 클래스</a:t>
            </a:r>
            <a:br/>
            <a:r>
              <a:t>4주 대면 컨설팅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C3C3C"/>
                </a:solidFill>
                <a:latin typeface="Jalnan"/>
              </a:defRPr>
            </a:pPr>
            <a:r>
              <a:t>65~80분  |  전환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오늘 알려드린 건</a:t>
            </a:r>
            <a:br/>
            <a:r>
              <a:t>빙산의 일각입니다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7년간 수천만원 쓰면서</a:t>
            </a:r>
            <a:br/>
            <a:r>
              <a:t>알아낸 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4주 안에 전부 알려드립니다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4주 </a:t>
            </a:r>
            <a:r>
              <a:rPr sz="4500" b="1">
                <a:solidFill>
                  <a:srgbClr val="FFFFFF"/>
                </a:solidFill>
                <a:latin typeface="Jalnan"/>
              </a:rPr>
              <a:t>커리큘럼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B900"/>
                </a:solidFill>
                <a:latin typeface="Jalnan"/>
              </a:defRPr>
            </a:pPr>
            <a:r>
              <a:t>매주 일요일</a:t>
            </a:r>
            <a:br/>
            <a:r>
              <a:t>3시간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왜 파는가 + 스토어 개설 + 소싱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누구한테 파는가 + 키워드 +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어떻게 파는가 + 상세페이지 + 바이럴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팔리게 만드는 법 + 광고 + 스케일업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1E1E"/>
                </a:solidFill>
                <a:latin typeface="Jalnan"/>
              </a:defRPr>
            </a:pPr>
            <a:r>
              <a:t>핵심 차별점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B900"/>
                </a:solidFill>
                <a:latin typeface="Jalnan"/>
              </a:defRPr>
            </a:pPr>
            <a:r>
              <a:t>"첫 매출 무한 피드백"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Jalnan"/>
              </a:defRPr>
            </a:pPr>
            <a:r>
              <a:t>4주 끝나도 매출 나올 때까지</a:t>
            </a:r>
            <a:br/>
            <a:r>
              <a:t>계속 봐드립니다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강의 듣고 끝?</a:t>
            </a:r>
            <a:br/>
            <a:r>
              <a:t>그런 강의 아닙니다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결과가 나올 때까지</a:t>
            </a:r>
            <a:br/>
            <a:r>
              <a:t>같이 갑니다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1:1 카톡 피드백</a:t>
            </a:r>
            <a:br/>
            <a:r>
              <a:t>무제한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소수정예</a:t>
            </a:r>
            <a:br/>
            <a:r>
              <a:t>12~15명 한정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한 사람 한 사람</a:t>
            </a:r>
            <a:br/>
            <a:r>
              <a:t>봐드려야 하니까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1E1E"/>
                </a:solidFill>
                <a:latin typeface="Jalnan"/>
              </a:defRPr>
            </a:pPr>
            <a: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B900"/>
                </a:solidFill>
                <a:latin typeface="Jalnan"/>
              </a:defRPr>
            </a:pPr>
            <a:r>
              <a:t>지금 시작하세요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C3C3C"/>
                </a:solidFill>
                <a:latin typeface="Jalnan"/>
              </a:defRPr>
            </a:pPr>
            <a:r>
              <a:t>80~90분  |  현장 마감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FFFF"/>
                </a:solidFill>
                <a:latin typeface="Jalnan"/>
              </a:defRPr>
            </a:pPr>
            <a:r>
              <a:t>수강료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787878"/>
                </a:solidFill>
                <a:latin typeface="Jalnan"/>
              </a:defRPr>
            </a:pPr>
            <a:r>
              <a:t>정가 179만원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오늘 세미나 참석자 한정</a:t>
            </a:r>
            <a:br/>
            <a:r>
              <a:t>얼리버드 149만원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1E1E"/>
                </a:solidFill>
                <a:latin typeface="Jalnan"/>
              </a:defRPr>
            </a:pPr>
            <a:r>
              <a:t>오늘 현장 결제 시</a:t>
            </a:r>
            <a:br/>
            <a:r>
              <a:t>1:1 컨설팅 1회 추가 (30만원 상당)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B900"/>
                </a:solidFill>
                <a:latin typeface="Jalnan"/>
              </a:defRPr>
            </a:pPr>
            <a:r>
              <a:t>강의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3/23 (일)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종료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788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4/13 (일)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566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매주 일요일 3시간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43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장소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343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강남역 사무실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20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인원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120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소수정예 12~15명 한정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"고민된다"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이해합니다</a:t>
            </a:r>
            <a:br/>
            <a:r>
              <a:t>근데 고민하는 동안 자리는 채워집니다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Jalnan"/>
              </a:defRPr>
            </a:pPr>
            <a:r>
              <a:t>제가 처음 시작할 때</a:t>
            </a:r>
            <a:br/>
            <a:r>
              <a:t>알려줄 사람이 없어서</a:t>
            </a:r>
            <a:br/>
            <a:r>
              <a:t>2년 헤맸습니다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여러분은</a:t>
            </a:r>
            <a:br/>
            <a:r>
              <a:t>4주면 됩니다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지금 아니면</a:t>
            </a:r>
            <a:br/>
            <a:r>
              <a:t>다음 기수는 미정입니다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지금 바로 신청하세요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926080"/>
            <a:ext cx="3657600" cy="2286000"/>
          </a:xfrm>
          <a:prstGeom prst="roundRect">
            <a:avLst/>
          </a:prstGeom>
          <a:noFill/>
          <a:ln w="254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787878"/>
                </a:solidFill>
                <a:latin typeface="Jalnan"/>
              </a:defRPr>
            </a:pPr>
            <a:r>
              <a:t>[QR 코드]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1E1E"/>
                </a:solidFill>
                <a:latin typeface="Jalnan"/>
              </a:defRPr>
            </a:pPr>
            <a:r>
              <a:t>attackclass.liveklass.com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Jalnan"/>
              </a:defRPr>
            </a:pPr>
            <a:r>
              <a:t>결제 안 하셔도</a:t>
            </a:r>
            <a:br/>
            <a:r>
              <a:t>오늘 들은 내용만으로도</a:t>
            </a:r>
            <a:br/>
            <a:r>
              <a:t>시작할 수 있어요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1E1E"/>
                </a:solidFill>
                <a:latin typeface="Jalnan"/>
              </a:defRPr>
            </a:pPr>
            <a:r>
              <a:t>근데 혼자보다 같이가 빠릅니다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