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0" b="1">
                <a:solidFill>
                  <a:srgbClr val="FFB900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Jalnan"/>
              </a:defRPr>
            </a:pPr>
            <a:r>
              <a:t>소자본으로 월급 이상</a:t>
            </a:r>
            <a:br/>
            <a:r>
              <a:t>재고리스크 없는 스마트스토어 판매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787878"/>
                </a:solidFill>
                <a:latin typeface="Jalnan"/>
              </a:defRPr>
            </a:pPr>
            <a:r>
              <a:t>강사: 에렌 (권현우)  |  진격의 마케팅 대표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1E1E"/>
                </a:solidFill>
                <a:latin typeface="Jalnan"/>
              </a:defRPr>
            </a:pPr>
            <a:r>
              <a:t>WEEK 3  |  어떻게 파는가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B900"/>
                </a:solidFill>
                <a:latin typeface="Jalnan"/>
              </a:defRPr>
            </a:pPr>
            <a:r>
              <a:t>WEEK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Jalnan"/>
              </a:defRPr>
            </a:pPr>
            <a:r>
              <a:t>어떻게 파는가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B900"/>
                </a:solidFill>
                <a:latin typeface="Jalnan"/>
              </a:defRPr>
            </a:pPr>
            <a:r>
              <a:t>어라?</a:t>
            </a:r>
            <a:br/>
            <a:r>
              <a:t>이게 되네?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될 것 같을 때 사람은 더 한다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1E1E"/>
                </a:solidFill>
                <a:latin typeface="Jalnan"/>
              </a:defRPr>
            </a:pPr>
            <a:r>
              <a:t>#1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FFFF"/>
                </a:solidFill>
                <a:latin typeface="Jalnan"/>
              </a:defRPr>
            </a:pPr>
            <a:r>
              <a:t>내 상품</a:t>
            </a:r>
            <a:br/>
            <a:r>
              <a:t>첫인상 꾸미기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FFFF"/>
                </a:solidFill>
                <a:latin typeface="Jalnan"/>
              </a:defRPr>
            </a:pPr>
            <a:r>
              <a:t>소개팅 5초 판단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핸드폰, 자동차도 첫인상이 전부</a:t>
            </a:r>
            <a:br/>
            <a:r>
              <a:t>어떤 게 좋아보이나?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B900"/>
                </a:solidFill>
                <a:latin typeface="Jalnan"/>
              </a:defRPr>
            </a:pPr>
            <a:r>
              <a:t>월드컵 이상형 방식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787878"/>
                </a:solidFill>
                <a:latin typeface="Jalnan"/>
              </a:defRPr>
            </a:pPr>
            <a:r>
              <a:t>실제 상품 2개 띄워서 투표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1E1E"/>
                </a:solidFill>
                <a:latin typeface="Jalnan"/>
              </a:defRPr>
            </a:pPr>
            <a:r>
              <a:t>#2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FFFF"/>
                </a:solidFill>
                <a:latin typeface="Jalnan"/>
              </a:defRPr>
            </a:pPr>
            <a:r>
              <a:t>좋은 판매자가</a:t>
            </a:r>
            <a:br/>
            <a:r>
              <a:t>되는 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FFFF"/>
                </a:solidFill>
                <a:latin typeface="Jalnan"/>
              </a:defRPr>
            </a:pPr>
            <a:r>
              <a:t>감독님 새벽 2시</a:t>
            </a:r>
            <a:br/>
            <a:r>
              <a:t>트레이닝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학부모 마케팅</a:t>
            </a:r>
            <a:br/>
            <a:r>
              <a:t>돈 주면 4번타자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B900"/>
                </a:solidFill>
                <a:latin typeface="Jalnan"/>
              </a:defRPr>
            </a:pPr>
            <a:r>
              <a:t>"당신의 잘못이</a:t>
            </a:r>
            <a:br/>
            <a:r>
              <a:t>아닙니다"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야구 스토리로 감정 잡기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1E1E"/>
                </a:solidFill>
                <a:latin typeface="Jalnan"/>
              </a:defRPr>
            </a:pPr>
            <a:r>
              <a:t>#3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FFFF"/>
                </a:solidFill>
                <a:latin typeface="Jalnan"/>
              </a:defRPr>
            </a:pPr>
            <a:r>
              <a:t>2주차 미션 피드백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FFFF"/>
                </a:solidFill>
                <a:latin typeface="Jalnan"/>
              </a:defRPr>
            </a:pPr>
            <a:r>
              <a:t>수강생 등록 상품</a:t>
            </a:r>
            <a:br/>
            <a:r>
              <a:t>즉석 리뷰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상품명·가격·카테고리 즉석 수정</a:t>
            </a:r>
            <a:br/>
            <a:r>
              <a:t>잘한 것 vs 아쉬운 것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1E1E"/>
                </a:solidFill>
                <a:latin typeface="Jalnan"/>
              </a:defRPr>
            </a:pPr>
            <a:r>
              <a:t>#4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FFFF"/>
                </a:solidFill>
                <a:latin typeface="Jalnan"/>
              </a:defRPr>
            </a:pPr>
            <a:r>
              <a:t>소비자 구매과정</a:t>
            </a:r>
            <a:br/>
            <a:r>
              <a:t>6단계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0" b="1">
                <a:solidFill>
                  <a:srgbClr val="FFB900"/>
                </a:solidFill>
                <a:latin typeface="Jalnan"/>
              </a:rPr>
              <a:t>구매과정 </a:t>
            </a:r>
            <a:r>
              <a:rPr sz="4500" b="1">
                <a:solidFill>
                  <a:srgbClr val="FFFFFF"/>
                </a:solidFill>
                <a:latin typeface="Jalnan"/>
              </a:rPr>
              <a:t>6단계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1E1E"/>
                </a:solidFill>
                <a:latin typeface="Jalnan"/>
              </a:defRPr>
            </a:pPr>
            <a:r>
              <a:t>단계마다</a:t>
            </a:r>
            <a:br/>
            <a:r>
              <a:t>키워드가</a:t>
            </a:r>
            <a:br/>
            <a:r>
              <a:t>다르다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0116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① 현상 (문제 발견)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6974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② 욕구 (해결하고 싶다)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3832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③ 계획 (정보 수집)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40690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④ 행동 (검색/비교)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47548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⑤ 대안 (다른 선택지)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54406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⑥ 결과 (구매 결정)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500" b="1">
                <a:solidFill>
                  <a:srgbClr val="FFB900"/>
                </a:solidFill>
                <a:latin typeface="Jalnan"/>
              </a:defRPr>
            </a:pPr>
            <a:r>
              <a:t>곰팡이 발견</a:t>
            </a:r>
            <a:br/>
            <a:r>
              <a:t>→ 제거방법 검색</a:t>
            </a:r>
            <a:br/>
            <a:r>
              <a:t>→ 상품 비교</a:t>
            </a:r>
            <a:br/>
            <a:r>
              <a:t>→ 구매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1E1E"/>
                </a:solidFill>
                <a:latin typeface="Jalnan"/>
              </a:defRPr>
            </a:pPr>
            <a:r>
              <a:t>#5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FFFF"/>
                </a:solidFill>
                <a:latin typeface="Jalnan"/>
              </a:defRPr>
            </a:pPr>
            <a:r>
              <a:t>상품 2가지의 분류</a:t>
            </a:r>
            <a:br/>
            <a:r>
              <a:t>관여도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FFFF"/>
                </a:solidFill>
                <a:latin typeface="Jalnan"/>
              </a:defRPr>
            </a:pPr>
            <a:r>
              <a:t>저관여 vs 고관여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흙, 생필품 vs 전자기기, 명품</a:t>
            </a:r>
            <a:br/>
            <a:r>
              <a:t>소비 과정이 완전히 다르다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B900"/>
                </a:solidFill>
                <a:latin typeface="Jalnan"/>
              </a:defRPr>
            </a:pPr>
            <a:r>
              <a:t>편의점 음료 고르는 거랑</a:t>
            </a:r>
            <a:br/>
            <a:r>
              <a:t>노트북 고르는 거</a:t>
            </a:r>
            <a:br/>
            <a:r>
              <a:t>같아요?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1E1E"/>
                </a:solidFill>
                <a:latin typeface="Jalnan"/>
              </a:defRPr>
            </a:pPr>
            <a:r>
              <a:t>#6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FFFF"/>
                </a:solidFill>
                <a:latin typeface="Jalnan"/>
              </a:defRPr>
            </a:pPr>
            <a:r>
              <a:t>판매자 판매과정</a:t>
            </a:r>
            <a:br/>
            <a:r>
              <a:t>5단계 / 8단계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1E1E"/>
                </a:solidFill>
                <a:latin typeface="Jalnan"/>
              </a:defRPr>
            </a:pPr>
            <a:r>
              <a:t>관여도별</a:t>
            </a:r>
            <a:br/>
            <a:r>
              <a:t>판매전략이 다르다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저관여에 블로그 마케팅 = 헛수고</a:t>
            </a:r>
            <a:br/>
            <a:r>
              <a:t>경로를 알아야 한다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1E1E"/>
                </a:solidFill>
                <a:latin typeface="Jalnan"/>
              </a:defRPr>
            </a:pPr>
            <a:r>
              <a:t>#7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FFFF"/>
                </a:solidFill>
                <a:latin typeface="Jalnan"/>
              </a:defRPr>
            </a:pPr>
            <a:r>
              <a:t>유입경로에 따라</a:t>
            </a:r>
            <a:br/>
            <a:r>
              <a:t>달라지는 상세페이지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0" b="1">
                <a:solidFill>
                  <a:srgbClr val="FFB900"/>
                </a:solidFill>
                <a:latin typeface="Jalnan"/>
              </a:rPr>
              <a:t>유입경로 </a:t>
            </a:r>
            <a:r>
              <a:rPr sz="4500" b="1">
                <a:solidFill>
                  <a:srgbClr val="FFFFFF"/>
                </a:solidFill>
                <a:latin typeface="Jalnan"/>
              </a:rPr>
              <a:t>= 상세페이지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B900"/>
                </a:solidFill>
                <a:latin typeface="Jalnan"/>
              </a:defRPr>
            </a:pPr>
            <a:r>
              <a:t>어디서</a:t>
            </a:r>
            <a:br/>
            <a:r>
              <a:t>오느냐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0116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① 쇼핑검색 유입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6974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② 블로그 유입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3832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③ SNS 유입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40690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④ 각각 보여줄 게 다르다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1E1E"/>
                </a:solidFill>
                <a:latin typeface="Jalnan"/>
              </a:defRPr>
            </a:pPr>
            <a:r>
              <a:t>#8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FFFF"/>
                </a:solidFill>
                <a:latin typeface="Jalnan"/>
              </a:defRPr>
            </a:pPr>
            <a:r>
              <a:t>상품에 따라 달라지는</a:t>
            </a:r>
            <a:br/>
            <a:r>
              <a:t>마케팅 전략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1E1E"/>
                </a:solidFill>
                <a:latin typeface="Jalnan"/>
              </a:defRPr>
            </a:pPr>
            <a:r>
              <a:t>도마뱀 1,000만원</a:t>
            </a:r>
            <a:br/>
            <a:r>
              <a:t>길거리에서 팔면?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파충류샵에서는 팔린다</a:t>
            </a:r>
            <a:br/>
            <a:r>
              <a:t>온라인도 마찬가지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FB900"/>
                </a:solidFill>
                <a:latin typeface="Jalnan"/>
              </a:defRPr>
            </a:pPr>
            <a:r>
              <a:t>식품 = 길거리 OK</a:t>
            </a:r>
            <a:br/>
            <a:r>
              <a:t>야구용품 성수동?</a:t>
            </a:r>
            <a:br/>
            <a:r>
              <a:t>안팔린다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이 개념을 온라인화 해야 한다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1E1E"/>
                </a:solidFill>
                <a:latin typeface="Jalnan"/>
              </a:defRPr>
            </a:pPr>
            <a:r>
              <a:t>#9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FFFF"/>
                </a:solidFill>
                <a:latin typeface="Jalnan"/>
              </a:defRPr>
            </a:pPr>
            <a:r>
              <a:t>소비자 가스라이팅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1E1E"/>
                </a:solidFill>
                <a:latin typeface="Jalnan"/>
              </a:defRPr>
            </a:pPr>
            <a:r>
              <a:t>의심·반박 포인트</a:t>
            </a:r>
            <a:br/>
            <a:r>
              <a:t>미리 제거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환불 되나요? → 미리 차단</a:t>
            </a:r>
            <a:br/>
            <a:r>
              <a:t>불안 제거 = 전환율 UP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1E1E"/>
                </a:solidFill>
                <a:latin typeface="Jalnan"/>
              </a:defRPr>
            </a:pPr>
            <a:r>
              <a:t>#10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FFFF"/>
                </a:solidFill>
                <a:latin typeface="Jalnan"/>
              </a:defRPr>
            </a:pPr>
            <a:r>
              <a:t>썸네일 제작 실습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0" b="1">
                <a:solidFill>
                  <a:srgbClr val="FF1E1E"/>
                </a:solidFill>
                <a:latin typeface="Jalnan"/>
              </a:rPr>
              <a:t>클릭률 </a:t>
            </a:r>
            <a:r>
              <a:rPr sz="4500" b="1">
                <a:solidFill>
                  <a:srgbClr val="FFFFFF"/>
                </a:solidFill>
                <a:latin typeface="Jalnan"/>
              </a:rPr>
              <a:t>= 썸네일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B900"/>
                </a:solidFill>
                <a:latin typeface="Jalnan"/>
              </a:defRPr>
            </a:pPr>
            <a:r>
              <a:t>10분 안에</a:t>
            </a:r>
            <a:br/>
            <a:r>
              <a:t>1개 완성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0116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① 숫자 + 혜택 + 비주얼 공식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6974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② 캔바·미리캔버스 활용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3832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③ 수강생 상품으로 실제 제작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1E1E"/>
                </a:solidFill>
                <a:latin typeface="Jalnan"/>
              </a:defRPr>
            </a:pPr>
            <a:r>
              <a:t>#11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FFFF"/>
                </a:solidFill>
                <a:latin typeface="Jalnan"/>
              </a:defRPr>
            </a:pPr>
            <a:r>
              <a:t>상세페이지 제작 실습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0" b="1">
                <a:solidFill>
                  <a:srgbClr val="FFB900"/>
                </a:solidFill>
                <a:latin typeface="Jalnan"/>
              </a:rPr>
              <a:t>관여도별 </a:t>
            </a:r>
            <a:r>
              <a:rPr sz="4500" b="1">
                <a:solidFill>
                  <a:srgbClr val="FFFFFF"/>
                </a:solidFill>
                <a:latin typeface="Jalnan"/>
              </a:rPr>
              <a:t>상세페이지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1E1E"/>
                </a:solidFill>
                <a:latin typeface="Jalnan"/>
              </a:defRPr>
            </a:pPr>
            <a:r>
              <a:t>저관여</a:t>
            </a:r>
            <a:br/>
            <a:r>
              <a:t>= 짧고 핵심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0116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① 후킹 (첫 3초)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6974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② 공감 (문제 인식)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3832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③ 솔루션 (해결책)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40690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④ 스펙 (상세 정보)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47548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⑤ 리뷰 (사회적 증거)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54406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⑥ CTA (구매 유도)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1E1E"/>
                </a:solidFill>
                <a:latin typeface="Jalnan"/>
              </a:defRPr>
            </a:pPr>
            <a:r>
              <a:t>#12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FFFF"/>
                </a:solidFill>
                <a:latin typeface="Jalnan"/>
              </a:defRPr>
            </a:pPr>
            <a:r>
              <a:t>바이럴 글쓰기 실습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0" b="1">
                <a:solidFill>
                  <a:srgbClr val="FF1E1E"/>
                </a:solidFill>
                <a:latin typeface="Jalnan"/>
              </a:rPr>
              <a:t>에렌 전문 분야 </a:t>
            </a:r>
            <a:r>
              <a:rPr sz="4500" b="1">
                <a:solidFill>
                  <a:srgbClr val="FFFFFF"/>
                </a:solidFill>
                <a:latin typeface="Jalnan"/>
              </a:rPr>
              <a:t>— 바이럴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B900"/>
                </a:solidFill>
                <a:latin typeface="Jalnan"/>
              </a:defRPr>
            </a:pPr>
            <a:r>
              <a:t>광고 안 보이게</a:t>
            </a:r>
            <a:br/>
            <a:r>
              <a:t>노출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0116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① 키워드 자연 배치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6974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② 삭제 안 당하는 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3832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③ 실제 카페 글 시연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40690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④ 실제 1개 같이 작성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1E1E"/>
                </a:solidFill>
                <a:latin typeface="Jalnan"/>
              </a:defRPr>
            </a:pPr>
            <a:r>
              <a:t>#13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FFFF"/>
                </a:solidFill>
                <a:latin typeface="Jalnan"/>
              </a:defRPr>
            </a:pPr>
            <a:r>
              <a:t>경쟁자 파이</a:t>
            </a:r>
            <a:br/>
            <a:r>
              <a:t>뺏어오는 법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FFFF"/>
                </a:solidFill>
                <a:latin typeface="Jalnan"/>
              </a:defRPr>
            </a:pPr>
            <a:r>
              <a:t>위고비 가격 키워드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검색량 큰 브랜드 활용</a:t>
            </a:r>
            <a:br/>
            <a:r>
              <a:t>성분 비슷 + 가격 절반 = 설득력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0" b="1">
                <a:solidFill>
                  <a:srgbClr val="FF1E1E"/>
                </a:solidFill>
                <a:latin typeface="Jalnan"/>
              </a:defRPr>
            </a:pPr>
            <a:r>
              <a:t>남의 트래픽</a:t>
            </a:r>
            <a:br/>
            <a:r>
              <a:t>뺏어오는 거</a:t>
            </a:r>
            <a:br/>
            <a:r>
              <a:t>합법적으로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1E1E"/>
                </a:solidFill>
                <a:latin typeface="Jalnan"/>
              </a:defRPr>
            </a:pPr>
            <a:r>
              <a:t>📋 3주차 미션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Jalnan"/>
              </a:defRPr>
            </a:pPr>
            <a:r>
              <a:t>1.  상세페이지 완성 제출 (D+3)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71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Jalnan"/>
              </a:defRPr>
            </a:pPr>
            <a:r>
              <a:t>2.  바이럴 글 2개 작성 (D+5)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566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Jalnan"/>
              </a:defRPr>
            </a:pPr>
            <a:r>
              <a:t>3.  경쟁자 파이 뺏기 글 1개 (D+5)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0" b="1">
                <a:solidFill>
                  <a:srgbClr val="FFB900"/>
                </a:solidFill>
                <a:latin typeface="Jalnan"/>
              </a:defRPr>
            </a:pPr>
            <a:r>
              <a:t>WEEK 3 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Jalnan"/>
              </a:defRPr>
            </a:pPr>
            <a:r>
              <a:t>다음 주까지 미션 완료하고 오세요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1E1E"/>
                </a:solidFill>
                <a:latin typeface="Jalnan"/>
              </a:defRPr>
            </a:pPr>
            <a:r>
              <a:t>"흙 파는데 유튜브 리뷰?</a:t>
            </a:r>
            <a:br/>
            <a:r>
              <a:t>쇼핑검색 1등 하면 끝"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