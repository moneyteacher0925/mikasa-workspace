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0" b="1">
                <a:solidFill>
                  <a:srgbClr val="FFB900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Jalnan"/>
              </a:defRPr>
            </a:pPr>
            <a:r>
              <a:t>소자본으로 월급 이상</a:t>
            </a:r>
            <a:br/>
            <a:r>
              <a:t>재고리스크 없는 스마트스토어 판매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87878"/>
                </a:solidFill>
                <a:latin typeface="Jalnan"/>
              </a:defRPr>
            </a:pPr>
            <a:r>
              <a:t>강사: 에렌 (권현우)  |  진격의 마케팅 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1E1E"/>
                </a:solidFill>
                <a:latin typeface="Jalnan"/>
              </a:defRPr>
            </a:pPr>
            <a:r>
              <a:t>WEEK 2  |  누구한테 파는가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B900"/>
                </a:solidFill>
                <a:latin typeface="Jalnan"/>
              </a:defRPr>
            </a:pPr>
            <a:r>
              <a:t>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Jalnan"/>
              </a:defRPr>
            </a:pPr>
            <a:r>
              <a:t>누구한테 파는가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얼마를 벌어야</a:t>
            </a:r>
            <a:br/>
            <a:r>
              <a:t>자유롭게 살 수 있을까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월 생활비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자유의 기준은 사람마다 다르다</a:t>
            </a:r>
            <a:br/>
            <a:r>
              <a:t>구체적 숫자로 정해보자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신라모텔에서</a:t>
            </a:r>
            <a:br/>
            <a:r>
              <a:t>→ 신라호텔로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돈이 바꾸는 일상의 퀄리티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1주차 미션 피드백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수강생별 목표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잘 쓴 글 vs 대충 쓴 글</a:t>
            </a:r>
            <a:br/>
            <a:r>
              <a:t>진심의 차이를 보여줌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리스크 없이</a:t>
            </a:r>
            <a:br/>
            <a:r>
              <a:t>월 1억까지만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위탁 = 판매+마케팅</a:t>
            </a:r>
            <a:br/>
            <a:r>
              <a:t>전문가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재고 부담 제로</a:t>
            </a:r>
            <a:br/>
            <a:r>
              <a:t>마케팅에만 집중하는 구조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1억이 상한선이 아니라</a:t>
            </a:r>
            <a:br/>
            <a:r>
              <a:t>위탁만으로도 여기까지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판매 전문가가 되기</a:t>
            </a:r>
            <a:br/>
            <a:r>
              <a:t>총량의 저주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너무 많은 일</a:t>
            </a:r>
            <a:br/>
            <a:r>
              <a:t>= 집중 불가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김치찌개 전문점 vs 분식집</a:t>
            </a:r>
            <a:br/>
            <a:r>
              <a:t>한 가지에 몰입해야 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B900"/>
                </a:solidFill>
                <a:latin typeface="Jalnan"/>
              </a:defRPr>
            </a:pPr>
            <a:r>
              <a:t>지금 몇 가지</a:t>
            </a:r>
            <a:br/>
            <a:r>
              <a:t>하고 있어요?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7878"/>
                </a:solidFill>
                <a:latin typeface="Jalnan"/>
              </a:defRPr>
            </a:pPr>
            <a:r>
              <a:t>한 가지에 집중. 그게 전문가가 되는 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월천 이상 번</a:t>
            </a:r>
            <a:br/>
            <a:r>
              <a:t>수강생들의 공통점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동기부여 = 기름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기름 없으면 차는 안 간다</a:t>
            </a:r>
            <a:br/>
            <a:r>
              <a:t>성공한 사람들의 공통점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지피지기</a:t>
            </a:r>
            <a:br/>
            <a:r>
              <a:t>백전불태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적 = 경쟁사 + 소비자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나를 알고 상대를 알면</a:t>
            </a:r>
            <a:br/>
            <a:r>
              <a:t>100전 무패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B900"/>
                </a:solidFill>
                <a:latin typeface="Jalnan"/>
              </a:defRPr>
            </a:pPr>
            <a:r>
              <a:t>경쟁 상품 3개</a:t>
            </a:r>
            <a:br/>
            <a:r>
              <a:t>분석해봤어요?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87878"/>
                </a:solidFill>
                <a:latin typeface="Jalnan"/>
              </a:defRPr>
            </a:pPr>
            <a:r>
              <a:t>상대를 꿰뚫어야 이긴다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통찰 4단계</a:t>
            </a:r>
            <a:br/>
            <a:r>
              <a:t>실전 적용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B900"/>
                </a:solidFill>
                <a:latin typeface="Jalnan"/>
              </a:rPr>
              <a:t>통찰 </a:t>
            </a:r>
            <a:r>
              <a:rPr sz="4500" b="1">
                <a:solidFill>
                  <a:srgbClr val="FFFFFF"/>
                </a:solidFill>
                <a:latin typeface="Jalnan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1인칭</a:t>
            </a:r>
            <a:br/>
            <a:r>
              <a:t>→ 전지적</a:t>
            </a:r>
            <a:br/>
            <a:r>
              <a:t>시점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1인칭 시점 (내 입장)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3인칭 시점 (소비자)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전지적 시점 (시장 전체)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즉석 실습 (수강생 상품)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Jalnan"/>
              </a:defRPr>
            </a:pPr>
            <a:r>
              <a:t>훈수 둘 때</a:t>
            </a:r>
            <a:br/>
            <a:r>
              <a:t>잘 보이는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남의 가게는 잘 보이죠?</a:t>
            </a:r>
            <a:br/>
            <a:r>
              <a:t>내 가게도 그렇게 보는 연습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맞춤형 상품 제안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Jalnan"/>
              </a:defRPr>
            </a:pPr>
            <a:r>
              <a:t>다이어트약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게으른 타겟 vs 결혼식 타겟</a:t>
            </a:r>
            <a:br/>
            <a:r>
              <a:t>같은 카테고리, 다른 상품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B900"/>
                </a:solidFill>
                <a:latin typeface="Jalnan"/>
              </a:defRPr>
            </a:pPr>
            <a:r>
              <a:t>님 타겟이</a:t>
            </a:r>
            <a:br/>
            <a:r>
              <a:t>게으른 사람이에요?</a:t>
            </a:r>
            <a:br/>
            <a:r>
              <a:t>부지런한 사람이에요?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똑같은 방법을 알려줘도</a:t>
            </a:r>
            <a:br/>
            <a:r>
              <a:t>수익이 다른 이유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B900"/>
                </a:solidFill>
                <a:latin typeface="Jalnan"/>
              </a:defRPr>
            </a:pPr>
            <a:r>
              <a:t>같은 방법, 다른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2743200" cy="91440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Jalnan"/>
              </a:defRPr>
            </a:pPr>
            <a:r>
              <a:t>월 300만원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743200"/>
            <a:ext cx="2743200" cy="914400"/>
          </a:xfrm>
          <a:prstGeom prst="roundRect">
            <a:avLst/>
          </a:prstGeom>
          <a:noFill/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B900"/>
                </a:solidFill>
                <a:latin typeface="Jalnan"/>
              </a:defRPr>
            </a:pPr>
            <a:r>
              <a:t>월 3,000만원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743200"/>
            <a:ext cx="2743200" cy="914400"/>
          </a:xfrm>
          <a:prstGeom prst="roundRect">
            <a:avLst/>
          </a:prstGeom>
          <a:noFill/>
          <a:ln w="25400">
            <a:solidFill>
              <a:srgbClr val="FF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1E1E"/>
                </a:solidFill>
                <a:latin typeface="Jalnan"/>
              </a:defRPr>
            </a:pPr>
            <a:r>
              <a:t>월 3억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7878"/>
                </a:solidFill>
                <a:latin typeface="Jalnan"/>
              </a:defRPr>
            </a:pPr>
            <a:r>
              <a:t>방법은 같다</a:t>
            </a:r>
            <a:br/>
            <a:r>
              <a:t>사람이 다르다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마인드셋이</a:t>
            </a:r>
            <a:br/>
            <a:r>
              <a:t>수익을 결정한다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방법 다 알려줄 거예요</a:t>
            </a:r>
            <a:br/>
            <a:r>
              <a:t>근데 여러분이 안 바뀌면 소용없어요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돈 되는 키워드 찾기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1E1E"/>
                </a:solidFill>
                <a:latin typeface="Jalnan"/>
              </a:rPr>
              <a:t>블루오션 </a:t>
            </a:r>
            <a:r>
              <a:rPr sz="4500" b="1">
                <a:solidFill>
                  <a:srgbClr val="FFFFFF"/>
                </a:solidFill>
                <a:latin typeface="Jalnan"/>
              </a:rPr>
              <a:t>키워드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키워드</a:t>
            </a:r>
            <a:br/>
            <a:r>
              <a:t>= 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네이버 키워드도구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검색량·경쟁강도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블루오션 기준 3가지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6하원칙 '누가' → 키워드 전환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상품 등록 실습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B900"/>
                </a:solidFill>
                <a:latin typeface="Jalnan"/>
              </a:rPr>
              <a:t>상품 등록 </a:t>
            </a:r>
            <a:r>
              <a:rPr sz="4500" b="1">
                <a:solidFill>
                  <a:srgbClr val="FFFFFF"/>
                </a:solidFill>
                <a:latin typeface="Jalnan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1E1E"/>
                </a:solidFill>
                <a:latin typeface="Jalnan"/>
              </a:defRPr>
            </a:pPr>
            <a:r>
              <a:t>오늘 여기서</a:t>
            </a:r>
            <a:br/>
            <a:r>
              <a:t>1개는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카테고리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상품명 (상위노출 공식)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옵션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가격 (마진 역산)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754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⑤ 이미지 업로드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1E1E"/>
                </a:solidFill>
                <a:latin typeface="Jalnan"/>
              </a:defRPr>
            </a:pPr>
            <a:r>
              <a:t>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Jalnan"/>
              </a:defRPr>
            </a:pPr>
            <a:r>
              <a:t>경쟁 상품 분석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>
                <a:solidFill>
                  <a:srgbClr val="FF1E1E"/>
                </a:solidFill>
                <a:latin typeface="Jalnan"/>
              </a:rPr>
              <a:t>상위노출 5개 </a:t>
            </a:r>
            <a:r>
              <a:rPr sz="4500" b="1">
                <a:solidFill>
                  <a:srgbClr val="FFFFFF"/>
                </a:solidFill>
                <a:latin typeface="Jalnan"/>
              </a:rPr>
              <a:t>뜯어보기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Jalnan"/>
              </a:defRPr>
            </a:pPr>
            <a:r>
              <a:t>1등 따라하지</a:t>
            </a:r>
            <a:br/>
            <a:r>
              <a:t>말고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① 리뷰수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974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② 가격대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③ 배송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690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④ 상세페이지 퀄리티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754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Jalnan"/>
              </a:defRPr>
            </a:pPr>
            <a:r>
              <a:t>⑤ 내가 이길 포인트 찾기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Jalnan"/>
              </a:defRPr>
            </a:pPr>
            <a:r>
              <a:t>1등이 안 하는 걸</a:t>
            </a:r>
            <a:br/>
            <a:r>
              <a:t>찾아라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87878"/>
                </a:solidFill>
                <a:latin typeface="Jalnan"/>
              </a:defRPr>
            </a:pPr>
            <a:r>
              <a:t>따라하면 2등</a:t>
            </a:r>
            <a:br/>
            <a:r>
              <a:t>다르게 하면 1등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1E1E"/>
                </a:solidFill>
                <a:latin typeface="Jalnan"/>
              </a:defRPr>
            </a:pPr>
            <a:r>
              <a:t>📋 2주차 미션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1.  상품 1개 등록 완료 스크린샷 (D+3)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71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2.  경쟁 상품 3개 분석표 제출 (D+5)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Jalnan"/>
              </a:defRPr>
            </a:pPr>
            <a:r>
              <a:t>3.  매일 상품 핵심가치 선포 계속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80760"/>
            <a:ext cx="11277295" cy="952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172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787878"/>
                </a:solidFill>
                <a:latin typeface="Jalnan"/>
              </a:defRPr>
            </a:pPr>
            <a:r>
              <a:t>진격의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0" b="1">
                <a:solidFill>
                  <a:srgbClr val="FFB900"/>
                </a:solidFill>
                <a:latin typeface="Jalnan"/>
              </a:defRPr>
            </a:pPr>
            <a:r>
              <a:t>WEEK 2 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Jalnan"/>
              </a:defRPr>
            </a:pPr>
            <a:r>
              <a:t>다음 주까지 미션 완료하고 오세요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1E1E"/>
                </a:solidFill>
                <a:latin typeface="Jalnan"/>
              </a:defRPr>
            </a:pPr>
            <a:r>
              <a:t>"상품 등록 안 하면 매출도 없다"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